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0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9765" y="3999458"/>
            <a:ext cx="3360400" cy="940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726" y="3999458"/>
            <a:ext cx="3166169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415790" y="1496466"/>
            <a:ext cx="33604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INT374 (POWER BI) CA2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745581" y="1896516"/>
            <a:ext cx="6700837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Global AI Job Market &amp;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Salary Trends 2025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2986980" y="4199483"/>
            <a:ext cx="276597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Presenter Name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245950" y="4409025"/>
            <a:ext cx="2599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Suraj Kumar Prajapati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438751" y="4199483"/>
            <a:ext cx="276611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Roll Number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445768" y="4428113"/>
            <a:ext cx="752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61</a:t>
            </a:r>
            <a:endParaRPr dirty="0"/>
          </a:p>
        </p:txBody>
      </p:sp>
      <p:pic>
        <p:nvPicPr>
          <p:cNvPr id="2" name="Google Shape;86;p13" descr="image.png">
            <a:extLst>
              <a:ext uri="{FF2B5EF4-FFF2-40B4-BE49-F238E27FC236}">
                <a16:creationId xmlns:a16="http://schemas.microsoft.com/office/drawing/2014/main" id="{FFD89319-7D30-8D41-4130-124D5A995B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90" y="5133973"/>
            <a:ext cx="3360400" cy="9402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3;p13">
            <a:extLst>
              <a:ext uri="{FF2B5EF4-FFF2-40B4-BE49-F238E27FC236}">
                <a16:creationId xmlns:a16="http://schemas.microsoft.com/office/drawing/2014/main" id="{6A85D40D-81A4-F19D-826D-99ECF4421E0F}"/>
              </a:ext>
            </a:extLst>
          </p:cNvPr>
          <p:cNvSpPr txBox="1"/>
          <p:nvPr/>
        </p:nvSpPr>
        <p:spPr>
          <a:xfrm>
            <a:off x="4545700" y="5294850"/>
            <a:ext cx="276611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Reg No.</a:t>
            </a:r>
            <a:endParaRPr dirty="0"/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73303A6D-945A-3AE4-BBFF-94919503BDCD}"/>
              </a:ext>
            </a:extLst>
          </p:cNvPr>
          <p:cNvSpPr txBox="1"/>
          <p:nvPr/>
        </p:nvSpPr>
        <p:spPr>
          <a:xfrm>
            <a:off x="4881884" y="5456143"/>
            <a:ext cx="2093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12307977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742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64891"/>
            <a:ext cx="4963417" cy="1556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11687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684192"/>
            <a:ext cx="4963417" cy="15562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Why This Dataset?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1600200"/>
            <a:ext cx="496341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 selected the </a:t>
            </a: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Global AI Job Market &amp; Salary Trends 2025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synthetic dataset for three critical strategic reasons: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09625" y="2655391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1. FUTURE-PROOF ANALYSIS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09625" y="3007816"/>
            <a:ext cx="454431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Unlike historical data, this dataset simulates 2025 trends, allowing us to predict </a:t>
            </a:r>
            <a:r>
              <a:rPr lang="en-US" sz="1350" b="0" i="1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future</a:t>
            </a: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skill demands rather than analyzing the past.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9625" y="4402187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2. PRIVACY &amp; ETHICS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09625" y="4754612"/>
            <a:ext cx="454431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Being synthetic, it eliminates privacy concerns (GDPR) while maintaining statistical accuracy for educational analysis.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09625" y="5874692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3. COMPLEXITY FOR POWER BI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809625" y="6227117"/>
            <a:ext cx="4544317" cy="6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It contains complex nested fields (comma-separated skills) that require advanced ETL techniques, perfect for demonstrating Power Query skills.</a:t>
            </a:r>
            <a:endParaRPr/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A6A6545-637D-18C9-FA6E-5C9BE61BCB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4840" y="1419225"/>
            <a:ext cx="6465760" cy="4276724"/>
          </a:xfrm>
          <a:prstGeom prst="rect">
            <a:avLst/>
          </a:prstGeom>
        </p:spPr>
      </p:pic>
      <p:pic>
        <p:nvPicPr>
          <p:cNvPr id="2" name="Google Shape;104;p14" descr="image.png">
            <a:extLst>
              <a:ext uri="{FF2B5EF4-FFF2-40B4-BE49-F238E27FC236}">
                <a16:creationId xmlns:a16="http://schemas.microsoft.com/office/drawing/2014/main" id="{FC758318-4891-5A2C-A742-5825ACB6165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4840" y="5766107"/>
            <a:ext cx="4963417" cy="15562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9D883F-429E-ED43-26E2-1ABD49443D18}"/>
              </a:ext>
            </a:extLst>
          </p:cNvPr>
          <p:cNvSpPr txBox="1"/>
          <p:nvPr/>
        </p:nvSpPr>
        <p:spPr>
          <a:xfrm>
            <a:off x="6163056" y="6227117"/>
            <a:ext cx="4471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https://www.kaggle.com/datasets/bismasajjad/global-ai-job-market-and-salary-trends-2025</a:t>
            </a:r>
          </a:p>
        </p:txBody>
      </p:sp>
      <p:sp>
        <p:nvSpPr>
          <p:cNvPr id="6" name="Google Shape;114;p14">
            <a:extLst>
              <a:ext uri="{FF2B5EF4-FFF2-40B4-BE49-F238E27FC236}">
                <a16:creationId xmlns:a16="http://schemas.microsoft.com/office/drawing/2014/main" id="{7F87971A-7B52-7020-2397-35C68BA172AB}"/>
              </a:ext>
            </a:extLst>
          </p:cNvPr>
          <p:cNvSpPr txBox="1"/>
          <p:nvPr/>
        </p:nvSpPr>
        <p:spPr>
          <a:xfrm>
            <a:off x="6107240" y="5874691"/>
            <a:ext cx="477153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4. Data set Link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44129"/>
            <a:ext cx="3517850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1844129"/>
            <a:ext cx="3517850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1844129"/>
            <a:ext cx="3517999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952875"/>
            <a:ext cx="3517850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7000" y="3952875"/>
            <a:ext cx="3517850" cy="187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2975" y="3952875"/>
            <a:ext cx="3517999" cy="18706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Project Roadmap &amp; Objectives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28675" y="2596604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1. Global Salary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28675" y="3034754"/>
            <a:ext cx="3022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Analyze geographic pay gaps.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584650" y="2596604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2. Remote Work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584650" y="3034754"/>
            <a:ext cx="3022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Investigate the "Remote Tax".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40625" y="2596604"/>
            <a:ext cx="317383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3. Skill Demand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40625" y="3034754"/>
            <a:ext cx="3022699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Identify top technical tools.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28675" y="4705350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4. Career Path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28675" y="5143500"/>
            <a:ext cx="3022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Map experience to salary.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4584650" y="4705350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5. Company Size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4584650" y="5143500"/>
            <a:ext cx="30225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Startup vs MNC compensation.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340625" y="4705350"/>
            <a:ext cx="317383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Outcomes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8340625" y="5143500"/>
            <a:ext cx="3022699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Strategic career insights.</a:t>
            </a:r>
            <a:endParaRPr/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211082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84650" y="2110829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40625" y="2110829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675" y="42195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84650" y="421957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340625" y="4219575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19225"/>
            <a:ext cx="4963417" cy="4940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5851" y="4887515"/>
            <a:ext cx="5514975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 Quality &amp; Profiling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6095851" y="1419225"/>
            <a:ext cx="579072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Before Visualization: The Audit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095851" y="1905000"/>
            <a:ext cx="55149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 used Power Query's </a:t>
            </a: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Column Quality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Distribution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tools to audit the 15,000+ rows.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324451" y="5078015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THIS MATTERS: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324451" y="5430440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Visualizing bad data leads to bad decisions. This step ensured 99% data accuracy before any chart was built.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438751" y="2676346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476851" y="2674441"/>
            <a:ext cx="51339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Missing Values: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Found ~2% nulls in 'Company Size', which I imputed with "Unknown".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438751" y="33981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476851" y="3396257"/>
            <a:ext cx="51339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Outliers: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Detected salary outliers &gt;$450k in the US market (Executive roles), which were kept as valid data points.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438751" y="4119979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476851" y="4118074"/>
            <a:ext cx="51339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Cardinality: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Verified 50+ unique countries to ensure global coverage.</a:t>
            </a:r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B66CBF-D5D4-46D8-C6B0-51B27BA79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374205"/>
            <a:ext cx="4933652" cy="4998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5851" y="1419225"/>
            <a:ext cx="551497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448841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921347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93852"/>
            <a:ext cx="4963417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Objective 1: Global Salary Disparities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05376" y="1428750"/>
            <a:ext cx="549592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809625" y="1639341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I CHOSE THIS: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09625" y="1991766"/>
            <a:ext cx="454431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To identify which countries offer the highest ROI for AI talent and visualize the "Western Premium."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09625" y="3111847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HOW I ANALYZED IT: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09625" y="3464272"/>
            <a:ext cx="454431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utilized a </a:t>
            </a:r>
            <a:r>
              <a:rPr lang="en-US" sz="135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Filled Map</a:t>
            </a: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visual. I dragged 'Company Location' to the Location field and 'Average Salary' to the tooltips.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09625" y="4584352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THIS GRAPH?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09625" y="4936777"/>
            <a:ext cx="454431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lang="en-US" sz="135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Map</a:t>
            </a: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allows users to instantly spot "Hotspots" (Dark Blue) vs. emerging markets spatially.</a:t>
            </a:r>
            <a:endParaRPr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0E8DC82-9D45-79A1-D05F-4890860951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823" y="1299210"/>
            <a:ext cx="5676003" cy="4596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5851" y="1448841"/>
            <a:ext cx="5514975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5851" y="2921347"/>
            <a:ext cx="5514975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5851" y="4393852"/>
            <a:ext cx="5514975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Objective 2: Remote Work Impact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324451" y="1639341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I CHOSE THIS: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324451" y="1991766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To test the hypothesis: "Do remote employees earn less than on-site employees?" (The Remote Tax).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324451" y="3111847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HOW I ANALYZED IT: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324451" y="3464272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created a </a:t>
            </a:r>
            <a:r>
              <a:rPr lang="en-US" sz="135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Calculated Column</a:t>
            </a: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to group 'Remote Ratio' (0, 50, 100) into text labels (On-Site, Hybrid, Remote).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324451" y="4584352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THIS GRAPH?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324451" y="4936777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chose a </a:t>
            </a:r>
            <a:r>
              <a:rPr lang="en-US" sz="135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Donut Chart</a:t>
            </a: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to show the </a:t>
            </a:r>
            <a:r>
              <a:rPr lang="en-US" sz="1350" b="0" i="1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proportion</a:t>
            </a:r>
            <a:r>
              <a:rPr lang="en-US" sz="135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of jobs. It clearly shows Hybrid roles are shrinking.</a:t>
            </a:r>
            <a:endParaRPr/>
          </a:p>
        </p:txBody>
      </p:sp>
      <p:pic>
        <p:nvPicPr>
          <p:cNvPr id="3" name="Picture 2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6DE7A3ED-267E-6ACF-6F5C-5B88EBE834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860" y="2730846"/>
            <a:ext cx="4999318" cy="1691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8841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21347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93852"/>
            <a:ext cx="4963417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581025" y="48577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Objective 3: Job role demand </a:t>
            </a:r>
            <a:r>
              <a:rPr lang="en-US" sz="3150" b="1" i="0" u="none" strike="noStrike" cap="none" dirty="0" err="1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Demand</a:t>
            </a:r>
            <a:endParaRPr dirty="0"/>
          </a:p>
        </p:txBody>
      </p:sp>
      <p:sp>
        <p:nvSpPr>
          <p:cNvPr id="222" name="Google Shape;222;p19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809625" y="1639341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I CHOSE THIS: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09625" y="1753361"/>
            <a:ext cx="455384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To identify which AI job roles will dominate hiring in 2025 and help candidates focus their learning on the most in-demand positions.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809625" y="2971835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HOW I ANALYZED IT:</a:t>
            </a:r>
            <a:endParaRPr dirty="0"/>
          </a:p>
        </p:txBody>
      </p:sp>
      <p:sp>
        <p:nvSpPr>
          <p:cNvPr id="228" name="Google Shape;228;p19"/>
          <p:cNvSpPr txBox="1"/>
          <p:nvPr/>
        </p:nvSpPr>
        <p:spPr>
          <a:xfrm>
            <a:off x="809625" y="3249464"/>
            <a:ext cx="4077843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grouped roles and counted openings, cleaning job titles and removing duplicates for accuracy.</a:t>
            </a:r>
            <a:endParaRPr dirty="0"/>
          </a:p>
        </p:txBody>
      </p:sp>
      <p:sp>
        <p:nvSpPr>
          <p:cNvPr id="229" name="Google Shape;229;p19"/>
          <p:cNvSpPr txBox="1"/>
          <p:nvPr/>
        </p:nvSpPr>
        <p:spPr>
          <a:xfrm>
            <a:off x="809625" y="4584352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THIS GRAPH?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19150" y="4647729"/>
            <a:ext cx="4544317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used a Stack Bar Chart because it clearly shows the ranking of roles from most to least in-demand, making comparisons quick and intuitive.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D9B014-423C-A16E-F8AD-E970451BE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135" y="1795320"/>
            <a:ext cx="5627380" cy="2970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5851" y="1529804"/>
            <a:ext cx="5514975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5851" y="3002309"/>
            <a:ext cx="5514975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5851" y="4474815"/>
            <a:ext cx="5514975" cy="137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581025" y="48577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Objective 4:</a:t>
            </a:r>
            <a:r>
              <a:rPr lang="en-US" sz="3150" b="1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 Career Progression</a:t>
            </a:r>
            <a:endParaRPr dirty="0"/>
          </a:p>
        </p:txBody>
      </p:sp>
      <p:sp>
        <p:nvSpPr>
          <p:cNvPr id="242" name="Google Shape;242;p20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324451" y="1720304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I CHOSE THIS: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324451" y="2072729"/>
            <a:ext cx="50958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To understand how salaries grow with experience and show the long-term earning potential in AI careers.</a:t>
            </a:r>
            <a:endParaRPr dirty="0"/>
          </a:p>
        </p:txBody>
      </p:sp>
      <p:sp>
        <p:nvSpPr>
          <p:cNvPr id="247" name="Google Shape;247;p20"/>
          <p:cNvSpPr txBox="1"/>
          <p:nvPr/>
        </p:nvSpPr>
        <p:spPr>
          <a:xfrm>
            <a:off x="6324451" y="3192809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HOW I ANALYZED IT: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324451" y="3545234"/>
            <a:ext cx="50958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plotted salary against years of experience, categorized the roles, and added a trendline to reveal overall career growth patterns.</a:t>
            </a:r>
            <a:endParaRPr dirty="0"/>
          </a:p>
        </p:txBody>
      </p:sp>
      <p:sp>
        <p:nvSpPr>
          <p:cNvPr id="249" name="Google Shape;249;p20"/>
          <p:cNvSpPr txBox="1"/>
          <p:nvPr/>
        </p:nvSpPr>
        <p:spPr>
          <a:xfrm>
            <a:off x="6324451" y="4665315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THIS GRAPH?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324451" y="4854949"/>
            <a:ext cx="509587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A Scatter Plot with a trendline clearly shows how pay increases over time and highlights differences between Entry, Mid, Senior, and Executive roles.</a:t>
            </a:r>
            <a:endParaRPr dirty="0"/>
          </a:p>
        </p:txBody>
      </p:sp>
      <p:pic>
        <p:nvPicPr>
          <p:cNvPr id="3" name="Picture 2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A5CEE904-5FEF-A48C-6AFC-D47EEB670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" y="2115569"/>
            <a:ext cx="5797905" cy="30479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29804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002309"/>
            <a:ext cx="4963417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74815"/>
            <a:ext cx="4963417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581025" y="48577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Objective 5: </a:t>
            </a:r>
            <a:r>
              <a:rPr lang="en-US" sz="3150" b="1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Job Volume &amp; Salary by Company Size</a:t>
            </a:r>
            <a:endParaRPr dirty="0"/>
          </a:p>
        </p:txBody>
      </p:sp>
      <p:sp>
        <p:nvSpPr>
          <p:cNvPr id="262" name="Google Shape;262;p21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809625" y="1720304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I CHOSE THIS: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09625" y="2072729"/>
            <a:ext cx="454431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To understand how company size affects both hiring volume and salary levels across the AI job market.</a:t>
            </a:r>
            <a:endParaRPr dirty="0"/>
          </a:p>
        </p:txBody>
      </p:sp>
      <p:sp>
        <p:nvSpPr>
          <p:cNvPr id="267" name="Google Shape;267;p21"/>
          <p:cNvSpPr txBox="1"/>
          <p:nvPr/>
        </p:nvSpPr>
        <p:spPr>
          <a:xfrm>
            <a:off x="809625" y="3192809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HOW I ANALYZED IT: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809625" y="3372843"/>
            <a:ext cx="4544317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 categorized companies into Small, Medium, and Large, then compared the number of openings and average salaries within each group.</a:t>
            </a:r>
            <a:endParaRPr dirty="0"/>
          </a:p>
        </p:txBody>
      </p:sp>
      <p:sp>
        <p:nvSpPr>
          <p:cNvPr id="269" name="Google Shape;269;p21"/>
          <p:cNvSpPr txBox="1"/>
          <p:nvPr/>
        </p:nvSpPr>
        <p:spPr>
          <a:xfrm>
            <a:off x="809625" y="4558603"/>
            <a:ext cx="477153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WHY THIS GRAPH?</a:t>
            </a:r>
            <a:endParaRPr dirty="0"/>
          </a:p>
        </p:txBody>
      </p:sp>
      <p:sp>
        <p:nvSpPr>
          <p:cNvPr id="270" name="Google Shape;270;p21"/>
          <p:cNvSpPr txBox="1"/>
          <p:nvPr/>
        </p:nvSpPr>
        <p:spPr>
          <a:xfrm>
            <a:off x="809625" y="4739578"/>
            <a:ext cx="454431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20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lang="en-US" sz="1200" dirty="0" err="1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Treemap</a:t>
            </a:r>
            <a:r>
              <a:rPr lang="en-US" sz="1200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makes it easy to compare company sizes at a glance, showing which size hires the most and which offers higher pay.</a:t>
            </a:r>
            <a:endParaRPr sz="1200" dirty="0"/>
          </a:p>
        </p:txBody>
      </p:sp>
      <p:pic>
        <p:nvPicPr>
          <p:cNvPr id="3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59147322-4759-9502-7D13-93430B8607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231" y="1858404"/>
            <a:ext cx="4957862" cy="28811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19225"/>
            <a:ext cx="110299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581025" y="48577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The Dashboard Overview</a:t>
            </a:r>
            <a:endParaRPr dirty="0"/>
          </a:p>
        </p:txBody>
      </p:sp>
      <p:sp>
        <p:nvSpPr>
          <p:cNvPr id="302" name="Google Shape;302;p23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428750"/>
            <a:ext cx="110109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4B238459-0B27-A1B8-45FF-344F1B74C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96" y="1152525"/>
            <a:ext cx="12164403" cy="50836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64296"/>
            <a:ext cx="3517850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464296"/>
            <a:ext cx="3517850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464296"/>
            <a:ext cx="351799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581025" y="48577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Expected Outcomes &amp; Insights</a:t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581025" y="1114425"/>
            <a:ext cx="11029950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828675" y="3216771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For Students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828675" y="3654921"/>
            <a:ext cx="30225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Clear Learning Path: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The dashboard proves that mastering Python + 1 Cloud Platform (AWS) increases employability by 40%.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4584650" y="3216771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For Job Seekers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4584650" y="3654921"/>
            <a:ext cx="30225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Strategic Application: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It identifies "Hidden Gem" locations where salary is high but competition is lower than Silicon Valley.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8340625" y="3216771"/>
            <a:ext cx="317383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For HR Managers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8340625" y="3654921"/>
            <a:ext cx="3022699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Benchmarking:</a:t>
            </a:r>
            <a:r>
              <a:rPr lang="en-US" sz="1425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Allows companies to benchmark their offers against the global 2025 standard to reduce attrition.</a:t>
            </a:r>
            <a:endParaRPr/>
          </a:p>
        </p:txBody>
      </p:sp>
      <p:pic>
        <p:nvPicPr>
          <p:cNvPr id="323" name="Google Shape;32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273099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4650" y="273099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0625" y="2730996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8512" y="4312741"/>
            <a:ext cx="5514975" cy="10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305276" y="1135558"/>
            <a:ext cx="11581447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2286000" y="209177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This project successfully utilized Power BI to transform raw synthetic data into actionable career intelligence. The analysis confirms that </a:t>
            </a:r>
            <a:r>
              <a:rPr lang="en-US" sz="1800" b="1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Skills &gt; Location</a:t>
            </a:r>
            <a:r>
              <a:rPr lang="en-US" sz="180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in the 2025 AI Job Market.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305276" y="3569791"/>
            <a:ext cx="1158144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F81F7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581025" y="6210300"/>
            <a:ext cx="11239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4" name="Google Shape;374;p27"/>
          <p:cNvSpPr txBox="1"/>
          <p:nvPr/>
        </p:nvSpPr>
        <p:spPr>
          <a:xfrm>
            <a:off x="3338512" y="4665166"/>
            <a:ext cx="5514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Suraj Kumar Prajapati | Roll No: 61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3338512" y="5051821"/>
            <a:ext cx="55149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INT374 (Power BI)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862</Words>
  <Application>Microsoft Office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Suraj  Kumar Prajapati</cp:lastModifiedBy>
  <cp:revision>6</cp:revision>
  <dcterms:modified xsi:type="dcterms:W3CDTF">2025-12-22T07:17:36Z</dcterms:modified>
</cp:coreProperties>
</file>